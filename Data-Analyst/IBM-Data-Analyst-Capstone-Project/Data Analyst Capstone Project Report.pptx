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857375"/>
  <p:embeddedFontLst>
    <p:embeddedFont>
      <p:font typeface="IBM Plex Sans"/>
      <p:regular r:id="rId26"/>
      <p:bold r:id="rId27"/>
      <p:italic r:id="rId28"/>
      <p:boldItalic r:id="rId29"/>
    </p:embeddedFont>
    <p:embeddedFont>
      <p:font typeface="IBM Plex Mono Medium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IBM Plex Mono"/>
      <p:regular r:id="rId38"/>
      <p:bold r:id="rId39"/>
      <p:italic r:id="rId40"/>
      <p:boldItalic r:id="rId41"/>
    </p:embeddedFont>
    <p:embeddedFont>
      <p:font typeface="IBM Plex Sans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44">
          <p15:clr>
            <a:srgbClr val="A4A3A4"/>
          </p15:clr>
        </p15:guide>
        <p15:guide id="2" pos="2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44" orient="horz"/>
        <p:guide pos="28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IBMPlexSans-regular.fntdata"/><Relationship Id="rId27" Type="http://schemas.openxmlformats.org/officeDocument/2006/relationships/font" Target="fonts/IBMPlexSans-bold.fntdata"/><Relationship Id="rId28" Type="http://schemas.openxmlformats.org/officeDocument/2006/relationships/font" Target="fonts/IBMPlexSans-italic.fntdata"/><Relationship Id="rId29" Type="http://schemas.openxmlformats.org/officeDocument/2006/relationships/font" Target="fonts/IBMPlexSans-boldItalic.fntdata"/><Relationship Id="rId30" Type="http://schemas.openxmlformats.org/officeDocument/2006/relationships/font" Target="fonts/IBMPlexMonoMedium-regular.fntdata"/><Relationship Id="rId31" Type="http://schemas.openxmlformats.org/officeDocument/2006/relationships/font" Target="fonts/IBMPlexMonoMedium-bold.fntdata"/><Relationship Id="rId32" Type="http://schemas.openxmlformats.org/officeDocument/2006/relationships/font" Target="fonts/IBMPlexMonoMedium-italic.fntdata"/><Relationship Id="rId33" Type="http://schemas.openxmlformats.org/officeDocument/2006/relationships/font" Target="fonts/IBMPlexMonoMedium-boldItalic.fntdata"/><Relationship Id="rId34" Type="http://schemas.openxmlformats.org/officeDocument/2006/relationships/font" Target="fonts/HelveticaNeue-regular.fntdata"/><Relationship Id="rId35" Type="http://schemas.openxmlformats.org/officeDocument/2006/relationships/font" Target="fonts/HelveticaNeue-bold.fntdata"/><Relationship Id="rId36" Type="http://schemas.openxmlformats.org/officeDocument/2006/relationships/font" Target="fonts/HelveticaNeue-italic.fntdata"/><Relationship Id="rId37" Type="http://schemas.openxmlformats.org/officeDocument/2006/relationships/font" Target="fonts/HelveticaNeue-boldItalic.fntdata"/><Relationship Id="rId38" Type="http://schemas.openxmlformats.org/officeDocument/2006/relationships/font" Target="fonts/IBMPlexMono-regular.fntdata"/><Relationship Id="rId39" Type="http://schemas.openxmlformats.org/officeDocument/2006/relationships/font" Target="fonts/IBMPlexMono-bold.fntdata"/><Relationship Id="rId40" Type="http://schemas.openxmlformats.org/officeDocument/2006/relationships/font" Target="fonts/IBMPlexMono-italic.fntdata"/><Relationship Id="rId41" Type="http://schemas.openxmlformats.org/officeDocument/2006/relationships/font" Target="fonts/IBMPlexMono-boldItalic.fntdata"/><Relationship Id="rId42" Type="http://schemas.openxmlformats.org/officeDocument/2006/relationships/font" Target="fonts/IBMPlexSansSemiBold-regular.fntdata"/><Relationship Id="rId43" Type="http://schemas.openxmlformats.org/officeDocument/2006/relationships/font" Target="fonts/IBMPlexSansSemiBold-bold.fntdata"/><Relationship Id="rId44" Type="http://schemas.openxmlformats.org/officeDocument/2006/relationships/font" Target="fonts/IBMPlexSansSemiBold-italic.fntdata"/><Relationship Id="rId45" Type="http://schemas.openxmlformats.org/officeDocument/2006/relationships/font" Target="fonts/IBMPlexSansSemiBold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Job postings by technology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5EAA"/>
            </a:solidFill>
          </c:spPr>
          <c:cat>
            <c:strRef>
              <c:f>Sheet1!$A$2:$A$11</c:f>
              <c:strCache>
                <c:ptCount val="10"/>
                <c:pt idx="0">
                  <c:v>JavaScript</c:v>
                </c:pt>
                <c:pt idx="1">
                  <c:v>Java</c:v>
                </c:pt>
                <c:pt idx="2">
                  <c:v>Python</c:v>
                </c:pt>
                <c:pt idx="3">
                  <c:v>SQL</c:v>
                </c:pt>
                <c:pt idx="4">
                  <c:v>C#</c:v>
                </c:pt>
                <c:pt idx="5">
                  <c:v>C++</c:v>
                </c:pt>
                <c:pt idx="6">
                  <c:v>PHP</c:v>
                </c:pt>
                <c:pt idx="7">
                  <c:v>R</c:v>
                </c:pt>
                <c:pt idx="8">
                  <c:v>Go</c:v>
                </c:pt>
                <c:pt idx="9">
                  <c:v>Ruby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337</c:v>
                </c:pt>
                <c:pt idx="1">
                  <c:v>260</c:v>
                </c:pt>
                <c:pt idx="2">
                  <c:v>243</c:v>
                </c:pt>
                <c:pt idx="3">
                  <c:v>207</c:v>
                </c:pt>
                <c:pt idx="4">
                  <c:v>160</c:v>
                </c:pt>
                <c:pt idx="5">
                  <c:v>128</c:v>
                </c:pt>
                <c:pt idx="6">
                  <c:v>112</c:v>
                </c:pt>
                <c:pt idx="7">
                  <c:v>89</c:v>
                </c:pt>
                <c:pt idx="8">
                  <c:v>76</c:v>
                </c:pt>
                <c:pt idx="9">
                  <c:v>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Average annual salary by language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27E1F"/>
            </a:solidFill>
          </c:spPr>
          <c:cat>
            <c:strRef>
              <c:f>Sheet1!$A$2:$A$11</c:f>
              <c:strCache>
                <c:ptCount val="10"/>
                <c:pt idx="0">
                  <c:v>Swift</c:v>
                </c:pt>
                <c:pt idx="1">
                  <c:v>Python</c:v>
                </c:pt>
                <c:pt idx="2">
                  <c:v>C++</c:v>
                </c:pt>
                <c:pt idx="3">
                  <c:v>JavaScript</c:v>
                </c:pt>
                <c:pt idx="4">
                  <c:v>Java</c:v>
                </c:pt>
                <c:pt idx="5">
                  <c:v>Go</c:v>
                </c:pt>
                <c:pt idx="6">
                  <c:v>R</c:v>
                </c:pt>
                <c:pt idx="7">
                  <c:v>C#</c:v>
                </c:pt>
                <c:pt idx="8">
                  <c:v>SQL</c:v>
                </c:pt>
                <c:pt idx="9">
                  <c:v>PHP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130801</c:v>
                </c:pt>
                <c:pt idx="1">
                  <c:v>114383</c:v>
                </c:pt>
                <c:pt idx="2">
                  <c:v>113865</c:v>
                </c:pt>
                <c:pt idx="3">
                  <c:v>110981</c:v>
                </c:pt>
                <c:pt idx="4">
                  <c:v>101013</c:v>
                </c:pt>
                <c:pt idx="5">
                  <c:v>94082</c:v>
                </c:pt>
                <c:pt idx="6">
                  <c:v>92037</c:v>
                </c:pt>
                <c:pt idx="7">
                  <c:v>88726</c:v>
                </c:pt>
                <c:pt idx="8">
                  <c:v>84793</c:v>
                </c:pt>
                <c:pt idx="9">
                  <c:v>84727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languages worked with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5EAA"/>
            </a:solidFill>
          </c:spPr>
          <c:cat>
            <c:strRef>
              <c:f>Sheet1!$A$2:$A$11</c:f>
              <c:strCache>
                <c:ptCount val="10"/>
                <c:pt idx="0">
                  <c:v>JavaScript</c:v>
                </c:pt>
                <c:pt idx="1">
                  <c:v>HTML/CSS</c:v>
                </c:pt>
                <c:pt idx="2">
                  <c:v>Python</c:v>
                </c:pt>
                <c:pt idx="3">
                  <c:v>SQL</c:v>
                </c:pt>
                <c:pt idx="4">
                  <c:v>TypeScript</c:v>
                </c:pt>
                <c:pt idx="5">
                  <c:v>Bash/Shell</c:v>
                </c:pt>
                <c:pt idx="6">
                  <c:v>Java</c:v>
                </c:pt>
                <c:pt idx="7">
                  <c:v>C#</c:v>
                </c:pt>
                <c:pt idx="8">
                  <c:v>C++</c:v>
                </c:pt>
                <c:pt idx="9">
                  <c:v>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63.6</c:v>
                </c:pt>
                <c:pt idx="1">
                  <c:v>53.0</c:v>
                </c:pt>
                <c:pt idx="2">
                  <c:v>49.3</c:v>
                </c:pt>
                <c:pt idx="3">
                  <c:v>48.7</c:v>
                </c:pt>
                <c:pt idx="4">
                  <c:v>38.9</c:v>
                </c:pt>
                <c:pt idx="5">
                  <c:v>32.4</c:v>
                </c:pt>
                <c:pt idx="6">
                  <c:v>30.6</c:v>
                </c:pt>
                <c:pt idx="7">
                  <c:v>27.8</c:v>
                </c:pt>
                <c:pt idx="8">
                  <c:v>23.6</c:v>
                </c:pt>
                <c:pt idx="9">
                  <c:v>22.5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languages desired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6A65A"/>
            </a:solidFill>
          </c:spPr>
          <c:cat>
            <c:strRef>
              <c:f>Sheet1!$A$2:$A$11</c:f>
              <c:strCache>
                <c:ptCount val="10"/>
                <c:pt idx="0">
                  <c:v>Python</c:v>
                </c:pt>
                <c:pt idx="1">
                  <c:v>JavaScript</c:v>
                </c:pt>
                <c:pt idx="2">
                  <c:v>TypeScript</c:v>
                </c:pt>
                <c:pt idx="3">
                  <c:v>SQL</c:v>
                </c:pt>
                <c:pt idx="4">
                  <c:v>Rust</c:v>
                </c:pt>
                <c:pt idx="5">
                  <c:v>Go</c:v>
                </c:pt>
                <c:pt idx="6">
                  <c:v>HTML/CSS</c:v>
                </c:pt>
                <c:pt idx="7">
                  <c:v>Java</c:v>
                </c:pt>
                <c:pt idx="8">
                  <c:v>C#</c:v>
                </c:pt>
                <c:pt idx="9">
                  <c:v>Kotlin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49.0</c:v>
                </c:pt>
                <c:pt idx="1">
                  <c:v>41.0</c:v>
                </c:pt>
                <c:pt idx="2">
                  <c:v>39.0</c:v>
                </c:pt>
                <c:pt idx="3">
                  <c:v>38.0</c:v>
                </c:pt>
                <c:pt idx="4">
                  <c:v>32.0</c:v>
                </c:pt>
                <c:pt idx="5">
                  <c:v>28.0</c:v>
                </c:pt>
                <c:pt idx="6">
                  <c:v>26.0</c:v>
                </c:pt>
                <c:pt idx="7">
                  <c:v>24.0</c:v>
                </c:pt>
                <c:pt idx="8">
                  <c:v>21.0</c:v>
                </c:pt>
                <c:pt idx="9">
                  <c:v>18.0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databases currently used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705DBE"/>
            </a:solidFill>
          </c:spPr>
          <c:cat>
            <c:strRef>
              <c:f>Sheet1!$A$2:$A$11</c:f>
              <c:strCache>
                <c:ptCount val="10"/>
                <c:pt idx="0">
                  <c:v>PostgreSQL</c:v>
                </c:pt>
                <c:pt idx="1">
                  <c:v>MySQL</c:v>
                </c:pt>
                <c:pt idx="2">
                  <c:v>SQLite</c:v>
                </c:pt>
                <c:pt idx="3">
                  <c:v>MongoDB</c:v>
                </c:pt>
                <c:pt idx="4">
                  <c:v>MS SQL Server</c:v>
                </c:pt>
                <c:pt idx="5">
                  <c:v>Redis</c:v>
                </c:pt>
                <c:pt idx="6">
                  <c:v>MariaDB</c:v>
                </c:pt>
                <c:pt idx="7">
                  <c:v>Elasticsearch</c:v>
                </c:pt>
                <c:pt idx="8">
                  <c:v>Oracle</c:v>
                </c:pt>
                <c:pt idx="9">
                  <c:v>Firebase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49.0</c:v>
                </c:pt>
                <c:pt idx="1">
                  <c:v>40.0</c:v>
                </c:pt>
                <c:pt idx="2">
                  <c:v>34.0</c:v>
                </c:pt>
                <c:pt idx="3">
                  <c:v>25.0</c:v>
                </c:pt>
                <c:pt idx="4">
                  <c:v>24.0</c:v>
                </c:pt>
                <c:pt idx="5">
                  <c:v>20.0</c:v>
                </c:pt>
                <c:pt idx="6">
                  <c:v>17.0</c:v>
                </c:pt>
                <c:pt idx="7">
                  <c:v>15.0</c:v>
                </c:pt>
                <c:pt idx="8">
                  <c:v>13.0</c:v>
                </c:pt>
                <c:pt idx="9">
                  <c:v>12.0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databases desired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CA0A0"/>
            </a:solidFill>
          </c:spPr>
          <c:cat>
            <c:strRef>
              <c:f>Sheet1!$A$2:$A$11</c:f>
              <c:strCache>
                <c:ptCount val="10"/>
                <c:pt idx="0">
                  <c:v>PostgreSQL</c:v>
                </c:pt>
                <c:pt idx="1">
                  <c:v>SQLite</c:v>
                </c:pt>
                <c:pt idx="2">
                  <c:v>MongoDB</c:v>
                </c:pt>
                <c:pt idx="3">
                  <c:v>Redis</c:v>
                </c:pt>
                <c:pt idx="4">
                  <c:v>MySQL</c:v>
                </c:pt>
                <c:pt idx="5">
                  <c:v>Supabase</c:v>
                </c:pt>
                <c:pt idx="6">
                  <c:v>Elasticsearch</c:v>
                </c:pt>
                <c:pt idx="7">
                  <c:v>MS SQL Server</c:v>
                </c:pt>
                <c:pt idx="8">
                  <c:v>Firebase</c:v>
                </c:pt>
                <c:pt idx="9">
                  <c:v>MariaDB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47.0</c:v>
                </c:pt>
                <c:pt idx="1">
                  <c:v>27.0</c:v>
                </c:pt>
                <c:pt idx="2">
                  <c:v>25.0</c:v>
                </c:pt>
                <c:pt idx="3">
                  <c:v>22.0</c:v>
                </c:pt>
                <c:pt idx="4">
                  <c:v>21.0</c:v>
                </c:pt>
                <c:pt idx="5">
                  <c:v>20.0</c:v>
                </c:pt>
                <c:pt idx="6">
                  <c:v>17.0</c:v>
                </c:pt>
                <c:pt idx="7">
                  <c:v>15.0</c:v>
                </c:pt>
                <c:pt idx="8">
                  <c:v>14.0</c:v>
                </c:pt>
                <c:pt idx="9">
                  <c:v>13.0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languages used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5EAA"/>
            </a:solidFill>
          </c:spPr>
          <c:cat>
            <c:strRef>
              <c:f>Sheet1!$A$2:$A$11</c:f>
              <c:strCache>
                <c:ptCount val="10"/>
                <c:pt idx="0">
                  <c:v>JavaScript</c:v>
                </c:pt>
                <c:pt idx="1">
                  <c:v>HTML/CSS</c:v>
                </c:pt>
                <c:pt idx="2">
                  <c:v>Python</c:v>
                </c:pt>
                <c:pt idx="3">
                  <c:v>SQL</c:v>
                </c:pt>
                <c:pt idx="4">
                  <c:v>TypeScript</c:v>
                </c:pt>
                <c:pt idx="5">
                  <c:v>Bash/Shell</c:v>
                </c:pt>
                <c:pt idx="6">
                  <c:v>Java</c:v>
                </c:pt>
                <c:pt idx="7">
                  <c:v>C#</c:v>
                </c:pt>
                <c:pt idx="8">
                  <c:v>C++</c:v>
                </c:pt>
                <c:pt idx="9">
                  <c:v>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63.6</c:v>
                </c:pt>
                <c:pt idx="1">
                  <c:v>53.0</c:v>
                </c:pt>
                <c:pt idx="2">
                  <c:v>49.3</c:v>
                </c:pt>
                <c:pt idx="3">
                  <c:v>48.7</c:v>
                </c:pt>
                <c:pt idx="4">
                  <c:v>38.9</c:v>
                </c:pt>
                <c:pt idx="5">
                  <c:v>32.4</c:v>
                </c:pt>
                <c:pt idx="6">
                  <c:v>30.6</c:v>
                </c:pt>
                <c:pt idx="7">
                  <c:v>27.8</c:v>
                </c:pt>
                <c:pt idx="8">
                  <c:v>23.6</c:v>
                </c:pt>
                <c:pt idx="9">
                  <c:v>22.5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databases used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705DBE"/>
            </a:solidFill>
          </c:spPr>
          <c:cat>
            <c:strRef>
              <c:f>Sheet1!$A$2:$A$11</c:f>
              <c:strCache>
                <c:ptCount val="10"/>
                <c:pt idx="0">
                  <c:v>PostgreSQL</c:v>
                </c:pt>
                <c:pt idx="1">
                  <c:v>MySQL</c:v>
                </c:pt>
                <c:pt idx="2">
                  <c:v>SQLite</c:v>
                </c:pt>
                <c:pt idx="3">
                  <c:v>MongoDB</c:v>
                </c:pt>
                <c:pt idx="4">
                  <c:v>MS SQL Server</c:v>
                </c:pt>
                <c:pt idx="5">
                  <c:v>Redis</c:v>
                </c:pt>
                <c:pt idx="6">
                  <c:v>MariaDB</c:v>
                </c:pt>
                <c:pt idx="7">
                  <c:v>Elasticsearch</c:v>
                </c:pt>
                <c:pt idx="8">
                  <c:v>Oracle</c:v>
                </c:pt>
                <c:pt idx="9">
                  <c:v>Firebase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49.0</c:v>
                </c:pt>
                <c:pt idx="1">
                  <c:v>40.0</c:v>
                </c:pt>
                <c:pt idx="2">
                  <c:v>34.0</c:v>
                </c:pt>
                <c:pt idx="3">
                  <c:v>25.0</c:v>
                </c:pt>
                <c:pt idx="4">
                  <c:v>24.0</c:v>
                </c:pt>
                <c:pt idx="5">
                  <c:v>20.0</c:v>
                </c:pt>
                <c:pt idx="6">
                  <c:v>17.0</c:v>
                </c:pt>
                <c:pt idx="7">
                  <c:v>15.0</c:v>
                </c:pt>
                <c:pt idx="8">
                  <c:v>13.0</c:v>
                </c:pt>
                <c:pt idx="9">
                  <c:v>12.0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Top web frameworks used</a:t>
            </a:r>
          </a:p>
        </c:rich>
      </c:tx>
      <c:layout/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Technologies</c:v>
                </c:pt>
              </c:strCache>
            </c:strRef>
          </c:tx>
          <c:invertIfNegative val="0"/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40</c:v>
                </c:pt>
                <c:pt idx="1">
                  <c:v>39</c:v>
                </c:pt>
                <c:pt idx="2">
                  <c:v>21</c:v>
                </c:pt>
                <c:pt idx="3">
                  <c:v>20</c:v>
                </c:pt>
                <c:pt idx="4">
                  <c:v>17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40</c:v>
                </c:pt>
                <c:pt idx="1">
                  <c:v>39</c:v>
                </c:pt>
                <c:pt idx="2">
                  <c:v>21</c:v>
                </c:pt>
                <c:pt idx="3">
                  <c:v>20</c:v>
                </c:pt>
                <c:pt idx="4">
                  <c:v>17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languages wanted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6A65A"/>
            </a:solidFill>
          </c:spPr>
          <c:cat>
            <c:strRef>
              <c:f>Sheet1!$A$2:$A$11</c:f>
              <c:strCache>
                <c:ptCount val="10"/>
                <c:pt idx="0">
                  <c:v>Python</c:v>
                </c:pt>
                <c:pt idx="1">
                  <c:v>JavaScript</c:v>
                </c:pt>
                <c:pt idx="2">
                  <c:v>TypeScript</c:v>
                </c:pt>
                <c:pt idx="3">
                  <c:v>SQL</c:v>
                </c:pt>
                <c:pt idx="4">
                  <c:v>Rust</c:v>
                </c:pt>
                <c:pt idx="5">
                  <c:v>Go</c:v>
                </c:pt>
                <c:pt idx="6">
                  <c:v>HTML/CSS</c:v>
                </c:pt>
                <c:pt idx="7">
                  <c:v>Java</c:v>
                </c:pt>
                <c:pt idx="8">
                  <c:v>C#</c:v>
                </c:pt>
                <c:pt idx="9">
                  <c:v>Kotlin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49.0</c:v>
                </c:pt>
                <c:pt idx="1">
                  <c:v>41.0</c:v>
                </c:pt>
                <c:pt idx="2">
                  <c:v>39.0</c:v>
                </c:pt>
                <c:pt idx="3">
                  <c:v>38.0</c:v>
                </c:pt>
                <c:pt idx="4">
                  <c:v>32.0</c:v>
                </c:pt>
                <c:pt idx="5">
                  <c:v>28.0</c:v>
                </c:pt>
                <c:pt idx="6">
                  <c:v>26.0</c:v>
                </c:pt>
                <c:pt idx="7">
                  <c:v>24.0</c:v>
                </c:pt>
                <c:pt idx="8">
                  <c:v>21.0</c:v>
                </c:pt>
                <c:pt idx="9">
                  <c:v>18.0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Top 10 databases wanted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CA0A0"/>
            </a:solidFill>
          </c:spPr>
          <c:cat>
            <c:strRef>
              <c:f>Sheet1!$A$2:$A$11</c:f>
              <c:strCache>
                <c:ptCount val="10"/>
                <c:pt idx="0">
                  <c:v>PostgreSQL</c:v>
                </c:pt>
                <c:pt idx="1">
                  <c:v>SQLite</c:v>
                </c:pt>
                <c:pt idx="2">
                  <c:v>MongoDB</c:v>
                </c:pt>
                <c:pt idx="3">
                  <c:v>Redis</c:v>
                </c:pt>
                <c:pt idx="4">
                  <c:v>MySQL</c:v>
                </c:pt>
                <c:pt idx="5">
                  <c:v>Supabase</c:v>
                </c:pt>
                <c:pt idx="6">
                  <c:v>Elasticsearch</c:v>
                </c:pt>
                <c:pt idx="7">
                  <c:v>MS SQL Server</c:v>
                </c:pt>
                <c:pt idx="8">
                  <c:v>Firebase</c:v>
                </c:pt>
                <c:pt idx="9">
                  <c:v>MariaDB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47.0</c:v>
                </c:pt>
                <c:pt idx="1">
                  <c:v>27.0</c:v>
                </c:pt>
                <c:pt idx="2">
                  <c:v>25.0</c:v>
                </c:pt>
                <c:pt idx="3">
                  <c:v>22.0</c:v>
                </c:pt>
                <c:pt idx="4">
                  <c:v>21.0</c:v>
                </c:pt>
                <c:pt idx="5">
                  <c:v>20.0</c:v>
                </c:pt>
                <c:pt idx="6">
                  <c:v>17.0</c:v>
                </c:pt>
                <c:pt idx="7">
                  <c:v>15.0</c:v>
                </c:pt>
                <c:pt idx="8">
                  <c:v>14.0</c:v>
                </c:pt>
                <c:pt idx="9">
                  <c:v>13.0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Top web frameworks wanted</a:t>
            </a:r>
          </a:p>
        </c:rich>
      </c:tx>
      <c:layout/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Technologies</c:v>
                </c:pt>
              </c:strCache>
            </c:strRef>
          </c:tx>
          <c:invertIfNegative val="0"/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35</c:v>
                </c:pt>
                <c:pt idx="1">
                  <c:v>31</c:v>
                </c:pt>
                <c:pt idx="2">
                  <c:v>28</c:v>
                </c:pt>
                <c:pt idx="3">
                  <c:v>18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10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35</c:v>
                </c:pt>
                <c:pt idx="1">
                  <c:v>31</c:v>
                </c:pt>
                <c:pt idx="2">
                  <c:v>28</c:v>
                </c:pt>
                <c:pt idx="3">
                  <c:v>18</c:v>
                </c:pt>
                <c:pt idx="4">
                  <c:v>16</c:v>
                </c:pt>
                <c:pt idx="5">
                  <c:v>15</c:v>
                </c:pt>
                <c:pt idx="6">
                  <c:v>14</c:v>
                </c:pt>
                <c:pt idx="7">
                  <c:v>13</c:v>
                </c:pt>
                <c:pt idx="8">
                  <c:v>12</c:v>
                </c:pt>
                <c:pt idx="9">
                  <c:v>10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Respondent distribution by 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25-34</c:v>
                </c:pt>
                <c:pt idx="1">
                  <c:v>18-24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22</c:v>
                </c:pt>
                <c:pt idx="2">
                  <c:v>22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Respondent count by country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27E1F"/>
            </a:solidFill>
          </c:spPr>
          <c:cat>
            <c:strRef>
              <c:f>Sheet1!$A$2:$A$11</c:f>
              <c:strCache>
                <c:ptCount val="10"/>
                <c:pt idx="0">
                  <c:v>United States</c:v>
                </c:pt>
                <c:pt idx="1">
                  <c:v>Germany</c:v>
                </c:pt>
                <c:pt idx="2">
                  <c:v>India</c:v>
                </c:pt>
                <c:pt idx="3">
                  <c:v>United Kingdom</c:v>
                </c:pt>
                <c:pt idx="4">
                  <c:v>Canada</c:v>
                </c:pt>
                <c:pt idx="5">
                  <c:v>France</c:v>
                </c:pt>
                <c:pt idx="6">
                  <c:v>Brazil</c:v>
                </c:pt>
                <c:pt idx="7">
                  <c:v>Netherlands</c:v>
                </c:pt>
                <c:pt idx="8">
                  <c:v>Spain</c:v>
                </c:pt>
                <c:pt idx="9">
                  <c:v>Australia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Respondent distribution by education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Bachelor's</c:v>
                </c:pt>
                <c:pt idx="1">
                  <c:v>Master's</c:v>
                </c:pt>
                <c:pt idx="2">
                  <c:v>Some college</c:v>
                </c:pt>
                <c:pt idx="3">
                  <c:v>Secondary</c:v>
                </c:pt>
                <c:pt idx="4">
                  <c:v>Doctoral</c:v>
                </c:pt>
                <c:pt idx="5">
                  <c:v>Professional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25</c:v>
                </c:pt>
                <c:pt idx="2">
                  <c:v>16</c:v>
                </c:pt>
                <c:pt idx="3">
                  <c:v>9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Age by education level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Bachelor's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17</c:v>
                </c:pt>
                <c:pt idx="2">
                  <c:v>9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Master's+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11</c:v>
                </c:pt>
                <c:pt idx="2">
                  <c:v>7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14</c:v>
                </c:pt>
                <c:pt idx="2">
                  <c:v>6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  <a:defRPr b="1" i="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"/>
          <p:cNvSpPr txBox="1"/>
          <p:nvPr>
            <p:ph idx="1" type="body"/>
          </p:nvPr>
        </p:nvSpPr>
        <p:spPr>
          <a:xfrm>
            <a:off x="838200" y="1600200"/>
            <a:ext cx="5181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Char char="•"/>
              <a:defRPr>
                <a:solidFill>
                  <a:srgbClr val="26262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>
                <a:solidFill>
                  <a:srgbClr val="262626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1800"/>
              <a:buChar char="•"/>
              <a:defRPr>
                <a:solidFill>
                  <a:srgbClr val="52525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1800"/>
              <a:buChar char="•"/>
              <a:defRPr>
                <a:solidFill>
                  <a:srgbClr val="52525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"/>
          <p:cNvSpPr txBox="1"/>
          <p:nvPr>
            <p:ph idx="2" type="body"/>
          </p:nvPr>
        </p:nvSpPr>
        <p:spPr>
          <a:xfrm>
            <a:off x="6172200" y="1600200"/>
            <a:ext cx="5181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Char char="•"/>
              <a:defRPr>
                <a:solidFill>
                  <a:srgbClr val="26262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>
                <a:solidFill>
                  <a:srgbClr val="262626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1800"/>
              <a:buChar char="•"/>
              <a:defRPr>
                <a:solidFill>
                  <a:srgbClr val="52525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25252"/>
              </a:buClr>
              <a:buSzPts val="1800"/>
              <a:buChar char="•"/>
              <a:defRPr>
                <a:solidFill>
                  <a:srgbClr val="52525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3" name="Google Shape;53;p2"/>
          <p:cNvCxnSpPr/>
          <p:nvPr/>
        </p:nvCxnSpPr>
        <p:spPr>
          <a:xfrm>
            <a:off x="838200" y="1364249"/>
            <a:ext cx="10515600" cy="368"/>
          </a:xfrm>
          <a:prstGeom prst="straightConnector1">
            <a:avLst/>
          </a:prstGeom>
          <a:noFill/>
          <a:ln cap="flat" cmpd="sng" w="9525">
            <a:solidFill>
              <a:srgbClr val="6C4DEA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  <a:defRPr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"/>
          <p:cNvSpPr txBox="1"/>
          <p:nvPr>
            <p:ph idx="1" type="body"/>
          </p:nvPr>
        </p:nvSpPr>
        <p:spPr>
          <a:xfrm>
            <a:off x="838200" y="1600199"/>
            <a:ext cx="1074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Char char="•"/>
              <a:defRPr>
                <a:solidFill>
                  <a:srgbClr val="26262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>
                <a:solidFill>
                  <a:srgbClr val="262626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>
                <a:solidFill>
                  <a:srgbClr val="262626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>
                <a:solidFill>
                  <a:srgbClr val="262626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>
                <a:solidFill>
                  <a:srgbClr val="26262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7" name="Google Shape;57;p3"/>
          <p:cNvCxnSpPr/>
          <p:nvPr/>
        </p:nvCxnSpPr>
        <p:spPr>
          <a:xfrm>
            <a:off x="838200" y="1296645"/>
            <a:ext cx="10515600" cy="368"/>
          </a:xfrm>
          <a:prstGeom prst="straightConnector1">
            <a:avLst/>
          </a:prstGeom>
          <a:noFill/>
          <a:ln cap="flat" cmpd="sng" w="9525">
            <a:solidFill>
              <a:srgbClr val="6C4DEA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ctrTitle"/>
          </p:nvPr>
        </p:nvSpPr>
        <p:spPr>
          <a:xfrm>
            <a:off x="613873" y="1168401"/>
            <a:ext cx="10964254" cy="23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IBM Plex Sans SemiBold"/>
              <a:buNone/>
              <a:defRPr b="0" i="0" sz="480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"/>
          <p:cNvSpPr txBox="1"/>
          <p:nvPr>
            <p:ph idx="1" type="subTitle"/>
          </p:nvPr>
        </p:nvSpPr>
        <p:spPr>
          <a:xfrm>
            <a:off x="1528273" y="3731247"/>
            <a:ext cx="913545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25252"/>
              </a:buClr>
              <a:buSzPts val="2400"/>
              <a:buNone/>
              <a:defRPr b="0" i="0" sz="2400">
                <a:solidFill>
                  <a:srgbClr val="52525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61" name="Google Shape;61;p4"/>
          <p:cNvCxnSpPr/>
          <p:nvPr/>
        </p:nvCxnSpPr>
        <p:spPr>
          <a:xfrm>
            <a:off x="2880360" y="3649111"/>
            <a:ext cx="6431280" cy="0"/>
          </a:xfrm>
          <a:prstGeom prst="straightConnector1">
            <a:avLst/>
          </a:prstGeom>
          <a:noFill/>
          <a:ln cap="flat" cmpd="sng" w="9525">
            <a:solidFill>
              <a:srgbClr val="6C4DE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4093580" y="5537419"/>
            <a:ext cx="4004840" cy="30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IBM Corporation. All rights reserved.</a:t>
            </a:r>
            <a:endParaRPr/>
          </a:p>
        </p:txBody>
      </p:sp>
      <p:pic>
        <p:nvPicPr>
          <p:cNvPr id="63" name="Google Shape;6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37887" y="6372553"/>
            <a:ext cx="613059" cy="243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053" y="6372101"/>
            <a:ext cx="163068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IBM Plex Sans SemiBold"/>
              <a:buNone/>
              <a:defRPr b="1" i="0" sz="480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 showMasterSp="0">
  <p:cSld name="2_Blank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  <a:defRPr b="1" i="0" sz="4000" u="none" cap="none" strike="noStrike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descr="Text, logo&#10;&#10;Description automatically generated" id="12" name="Google Shape;12;p1"/>
          <p:cNvPicPr preferRelativeResize="0"/>
          <p:nvPr/>
        </p:nvPicPr>
        <p:blipFill rotWithShape="1">
          <a:blip r:embed="rId1">
            <a:alphaModFix amt="5000"/>
          </a:blip>
          <a:srcRect b="0" l="-1923" r="70315" t="0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#BE95FF</a:t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#33B1FF</a:t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#FF7EB6</a:t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#08BDBA</a:t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Purple 40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Magenta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40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Teal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40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Cyan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40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#8A3FFC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#0072C3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#D02670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#007D79</a:t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Purple 60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Magenta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60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Teal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60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Cyan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60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Icon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</a:t>
            </a:r>
            <a:r>
              <a:rPr b="0" i="0" lang="en-US" sz="18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000000</a:t>
            </a:r>
            <a:endParaRPr sz="1800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Icon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</a:t>
            </a:r>
            <a:r>
              <a:rPr b="0" i="0" lang="en-US" sz="1800">
                <a:solidFill>
                  <a:srgbClr val="262626"/>
                </a:solidFill>
                <a:latin typeface="IBM Plex Mono"/>
                <a:ea typeface="IBM Plex Mono"/>
                <a:cs typeface="IBM Plex Mono"/>
                <a:sym typeface="IBM Plex Mono"/>
              </a:rPr>
              <a:t>FFFFFF</a:t>
            </a:r>
            <a:endParaRPr sz="1800">
              <a:solidFill>
                <a:srgbClr val="26262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#F6F2FF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#E5F6FF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#FFF0F7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  <a:sym typeface="IBM Plex Sans"/>
              </a:rPr>
              <a:t>#D9FBFB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Purple 10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Magenta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10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Teal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10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Cyan</a:t>
            </a:r>
            <a:r>
              <a:rPr b="1" i="0"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10</a:t>
            </a:r>
            <a:endParaRPr b="1"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#C1C7CD</a:t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#F2F4F8</a:t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#BE95FF</a:t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#33B1FF</a:t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#08BDBA</a:t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 BG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#78A9FF</a:t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Labels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#525252</a:t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Text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#262626</a:t>
            </a:r>
            <a:endParaRPr/>
          </a:p>
        </p:txBody>
      </p:sp>
      <p:pic>
        <p:nvPicPr>
          <p:cNvPr id="47" name="Google Shape;4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37887" y="6372553"/>
            <a:ext cx="613059" cy="243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053" y="6372101"/>
            <a:ext cx="1630680" cy="247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Relationship Id="rId6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type="title"/>
          </p:nvPr>
        </p:nvSpPr>
        <p:spPr>
          <a:xfrm>
            <a:off x="838200" y="552162"/>
            <a:ext cx="10515600" cy="611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sz="3100" b="1">
                <a:solidFill>
                  <a:srgbClr val="414141"/>
                </a:solidFill>
                <a:latin typeface="Aptos Display"/>
              </a:rPr>
              <a:t>Data Analyst Capstone Project</a:t>
            </a:r>
            <a:endParaRPr/>
          </a:p>
        </p:txBody>
      </p:sp>
      <p:pic>
        <p:nvPicPr>
          <p:cNvPr id="75" name="Google Shape;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868680" y="1508760"/>
            <a:ext cx="4663440" cy="10972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0">
                <a:solidFill>
                  <a:srgbClr val="414141"/>
                </a:solidFill>
                <a:latin typeface="Aptos"/>
              </a:defRPr>
            </a:pPr>
            <a:r>
              <a:t>Cristian Alexandru Iordachi</a:t>
            </a:r>
          </a:p>
          <a:p>
            <a:pPr>
              <a:defRPr sz="2200" b="0" i="0">
                <a:solidFill>
                  <a:srgbClr val="414141"/>
                </a:solidFill>
                <a:latin typeface="Aptos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711" y="2025672"/>
            <a:ext cx="3194581" cy="31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 txBox="1"/>
          <p:nvPr/>
        </p:nvSpPr>
        <p:spPr>
          <a:xfrm>
            <a:off x="782054" y="263810"/>
            <a:ext cx="850852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b="1" i="0" lang="en-US" sz="400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OUTLINE</a:t>
            </a:r>
            <a:endParaRPr b="1" i="0" sz="4000">
              <a:solidFill>
                <a:srgbClr val="525252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989320" y="1371600"/>
            <a:ext cx="5120640" cy="44805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Executive Summary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Introduction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Methodology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Results: Job Postings &amp; Popular Languages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Programming Language Trends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Database Trends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Dashboard Insights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Discussion, Findings &amp; Implications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733926" y="304965"/>
            <a:ext cx="85651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EXECUTIVE SUMMARY</a:t>
            </a:r>
            <a:endParaRPr/>
          </a:p>
        </p:txBody>
      </p:sp>
      <p:pic>
        <p:nvPicPr>
          <p:cNvPr id="89" name="Google Shape;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926" y="2136507"/>
            <a:ext cx="3194581" cy="31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4343400" y="1508760"/>
            <a:ext cx="6675120" cy="4114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Analyzed developer technology trends using survey, API, scraping and dashboard outputs.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Focused on current usage and future demand for languages, databases, platforms and web frameworks.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Python, JavaScript, SQL and TypeScript remain core skills across current and future demand.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PostgreSQL, SQLite and MongoDB show strong relevance in database trends.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Dashboard insights connect technology choices with demographics and workforce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type="title"/>
          </p:nvPr>
        </p:nvSpPr>
        <p:spPr>
          <a:xfrm>
            <a:off x="770021" y="365125"/>
            <a:ext cx="76478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id="95" name="Google Shape;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347" y="2262036"/>
            <a:ext cx="3054361" cy="305436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TextBox 95"/>
          <p:cNvSpPr txBox="1"/>
          <p:nvPr/>
        </p:nvSpPr>
        <p:spPr>
          <a:xfrm>
            <a:off x="4297680" y="1508760"/>
            <a:ext cx="6766560" cy="3931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900">
                <a:solidFill>
                  <a:srgbClr val="414141"/>
                </a:solidFill>
                <a:latin typeface="Aptos"/>
              </a:defRPr>
            </a:pPr>
            <a:r>
              <a:t>Purpose: identify technology trends that matter for data-driven skill planning.</a:t>
            </a:r>
          </a:p>
          <a:p>
            <a:pPr marL="285750" indent="-285750">
              <a:defRPr sz="1900">
                <a:solidFill>
                  <a:srgbClr val="414141"/>
                </a:solidFill>
                <a:latin typeface="Aptos"/>
              </a:defRPr>
            </a:pPr>
            <a:r>
              <a:t>Target audience: recruiters, training teams, managers and junior data professionals.</a:t>
            </a:r>
          </a:p>
          <a:p>
            <a:pPr marL="285750" indent="-285750">
              <a:defRPr sz="1900">
                <a:solidFill>
                  <a:srgbClr val="414141"/>
                </a:solidFill>
                <a:latin typeface="Aptos"/>
              </a:defRPr>
            </a:pPr>
            <a:r>
              <a:t>Scope: programming languages, databases, platforms, web frameworks and demographics.</a:t>
            </a:r>
          </a:p>
          <a:p>
            <a:pPr marL="285750" indent="-285750">
              <a:defRPr sz="1900">
                <a:solidFill>
                  <a:srgbClr val="414141"/>
                </a:solidFill>
                <a:latin typeface="Aptos"/>
              </a:defRPr>
            </a:pPr>
            <a:r>
              <a:t>Value: converts raw survey and job data into actionable skill priorities.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782053" y="681037"/>
            <a:ext cx="10571747" cy="685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METHODOLOGY</a:t>
            </a:r>
            <a:endParaRPr/>
          </a:p>
        </p:txBody>
      </p:sp>
      <p:pic>
        <p:nvPicPr>
          <p:cNvPr id="103" name="Google Shape;1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655" y="1831709"/>
            <a:ext cx="3194581" cy="31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TextBox 103"/>
          <p:cNvSpPr txBox="1"/>
          <p:nvPr/>
        </p:nvSpPr>
        <p:spPr>
          <a:xfrm>
            <a:off x="4206240" y="1417320"/>
            <a:ext cx="6949440" cy="4297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Data sources: Stack Overflow Developer Survey-style data, Jobs API output and web-scraped salary data.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Collection: API calls, CSV/Excel exports, web scraping and dashboard data assets.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Wrangling: duplicate removal, missing-value checks, imputation and outlier review.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Analysis: Pandas, SQL and visual exploration of current vs. desired technologies.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Visualization: PowerPoint charts and dashboard-style summaries for storytelling.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6400800"/>
            <a:ext cx="109728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700" b="0" i="0">
                <a:solidFill>
                  <a:srgbClr val="6E6E6E"/>
                </a:solidFill>
                <a:latin typeface="Aptos"/>
              </a:defRPr>
            </a:pPr>
            <a:r>
              <a:t>Data sources used in this report follow the IBM Data Analyst Capstone Project workflow and Stack Overflow developer survey technology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782053" y="398033"/>
            <a:ext cx="10571747" cy="1091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descr="Presentation with pie chart with solid fill" id="110" name="Google Shape;1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468" y="2101175"/>
            <a:ext cx="2972979" cy="2972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4297680" y="1828800"/>
            <a:ext cx="6949440" cy="5486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The next section presents the main analytical outputs used for the capstone story.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89120" y="2743200"/>
            <a:ext cx="6766560" cy="2560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Job-posting demand from API collection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Salary comparison from web-scraped language data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Current vs. future programming-language trends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Current vs. future database trends</a:t>
            </a:r>
          </a:p>
          <a:p>
            <a:pPr marL="285750" indent="-285750">
              <a:defRPr sz="1700">
                <a:solidFill>
                  <a:srgbClr val="414141"/>
                </a:solidFill>
                <a:latin typeface="Aptos"/>
              </a:defRPr>
            </a:pPr>
            <a:r>
              <a:t>Dashboard insights for technology usage, future demand and demographics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633845" y="383051"/>
            <a:ext cx="58334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 JOB POSTINGS</a:t>
            </a:r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700" b="0" i="1">
                <a:solidFill>
                  <a:srgbClr val="414141"/>
                </a:solidFill>
                <a:latin typeface="Aptos"/>
              </a:defRPr>
            </a:pPr>
            <a:r>
              <a:t>Job postings by programming skill, ordered from highest to lowest demand.</a:t>
            </a:r>
          </a:p>
        </p:txBody>
      </p:sp>
      <p:graphicFrame>
        <p:nvGraphicFramePr>
          <p:cNvPr id="118" name="Chart 117"/>
          <p:cNvGraphicFramePr>
            <a:graphicFrameLocks noGrp="1"/>
          </p:cNvGraphicFramePr>
          <p:nvPr/>
        </p:nvGraphicFramePr>
        <p:xfrm>
          <a:off x="1051560" y="1828800"/>
          <a:ext cx="9875520" cy="429768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type="title"/>
          </p:nvPr>
        </p:nvSpPr>
        <p:spPr>
          <a:xfrm>
            <a:off x="758536" y="383051"/>
            <a:ext cx="57087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POPULAR LANGUAGES</a:t>
            </a:r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700" b="0" i="1">
                <a:solidFill>
                  <a:srgbClr val="414141"/>
                </a:solidFill>
                <a:latin typeface="Aptos"/>
              </a:defRPr>
            </a:pPr>
            <a:r>
              <a:t>Average annual salary by programming language, ordered by salary.</a:t>
            </a:r>
          </a:p>
        </p:txBody>
      </p:sp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1051560" y="1828800"/>
          <a:ext cx="9875520" cy="429768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PROGRAMMING LANGUAGES TRENDS</a:t>
            </a:r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700" b="0" i="1">
                <a:solidFill>
                  <a:srgbClr val="414141"/>
                </a:solidFill>
                <a:latin typeface="Aptos"/>
              </a:defRPr>
            </a:pPr>
            <a:r>
              <a:t>Current Year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63640" y="1417320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700" b="0" i="1">
                <a:solidFill>
                  <a:srgbClr val="414141"/>
                </a:solidFill>
                <a:latin typeface="Aptos"/>
              </a:defRPr>
            </a:pPr>
            <a:r>
              <a:t>Next Year</a:t>
            </a:r>
          </a:p>
        </p:txBody>
      </p:sp>
      <p:graphicFrame>
        <p:nvGraphicFramePr>
          <p:cNvPr id="131" name="Chart 130"/>
          <p:cNvGraphicFramePr>
            <a:graphicFrameLocks noGrp="1"/>
          </p:cNvGraphicFramePr>
          <p:nvPr/>
        </p:nvGraphicFramePr>
        <p:xfrm>
          <a:off x="731520" y="1783080"/>
          <a:ext cx="5212080" cy="429768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32" name="Chart 131"/>
          <p:cNvGraphicFramePr>
            <a:graphicFrameLocks noGrp="1"/>
          </p:cNvGraphicFramePr>
          <p:nvPr/>
        </p:nvGraphicFramePr>
        <p:xfrm>
          <a:off x="6080760" y="1783080"/>
          <a:ext cx="5212080" cy="4297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000" b="0" i="0">
                <a:solidFill>
                  <a:srgbClr val="6E6E6E"/>
                </a:solidFill>
                <a:latin typeface="Aptos"/>
              </a:defRPr>
            </a:pPr>
            <a:r>
              <a:t>Core web/data skills remain dominant, while Python, TypeScript, Rust and Go signal future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613065" y="218209"/>
            <a:ext cx="11471562" cy="133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PROGRAMMING LANGUAGES TRENDS - FINDINGS AND IMPLICATIONS</a:t>
            </a: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2296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68680" y="2240280"/>
            <a:ext cx="5120640" cy="3291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JavaScript, HTML/CSS, Python and SQL form the broadest current skill base.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Python remains highly attractive for future work, especially for data and automation roles.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TypeScript, Rust and Go indicate demand for scalable, reliable software development.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220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Implications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17920" y="2240280"/>
            <a:ext cx="5074920" cy="3291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Entry-level analysts benefit from strong Python + SQL fundamentals.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Learning TypeScript/JavaScript improves collaboration with web/product teams.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A practical portfolio should show both analysis skills and modern technical literacy.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862584" y="4287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DATABASE TRENDS</a:t>
            </a:r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700" b="0" i="1">
                <a:solidFill>
                  <a:srgbClr val="414141"/>
                </a:solidFill>
                <a:latin typeface="Aptos"/>
              </a:defRPr>
            </a:pPr>
            <a:r>
              <a:t>Current Year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63640" y="1417320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700" b="0" i="1">
                <a:solidFill>
                  <a:srgbClr val="414141"/>
                </a:solidFill>
                <a:latin typeface="Aptos"/>
              </a:defRPr>
            </a:pPr>
            <a:r>
              <a:t>Next Year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731520" y="1783080"/>
          <a:ext cx="5212080" cy="429768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49" name="Chart 148"/>
          <p:cNvGraphicFramePr>
            <a:graphicFrameLocks noGrp="1"/>
          </p:cNvGraphicFramePr>
          <p:nvPr/>
        </p:nvGraphicFramePr>
        <p:xfrm>
          <a:off x="6080760" y="1783080"/>
          <a:ext cx="5212080" cy="4297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000" b="0" i="0">
                <a:solidFill>
                  <a:srgbClr val="6E6E6E"/>
                </a:solidFill>
                <a:latin typeface="Aptos"/>
              </a:defRPr>
            </a:pPr>
            <a:r>
              <a:t>Relational databases stay central, while lightweight and cloud-native options show future momentum.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734786" y="572944"/>
            <a:ext cx="11457214" cy="975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ct val="100000"/>
              <a:buFont typeface="IBM Plex Sans SemiBold"/>
              <a:buNone/>
            </a:pPr>
            <a:r>
              <a:rPr lang="en-US"/>
              <a:t>DATABASE TRENDS - FINDINGS AND IMPLICATIONS</a:t>
            </a:r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82296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68680" y="2240280"/>
            <a:ext cx="5120640" cy="3291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PostgreSQL leads both current usage and future interest.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MySQL and SQLite remain important due to broad adoption and ease of use.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MongoDB, Redis and Supabase reflect demand for flexible and cloud-oriented data stacks.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7220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Implications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217920" y="2240280"/>
            <a:ext cx="5074920" cy="3291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SQL skills remain a core requirement for data analysis roles.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PostgreSQL is a high-value database to practice in portfolio projects.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Exposure to NoSQL/cache/cloud databases strengthens a modern analyst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DASHBOARD</a:t>
            </a:r>
            <a:endParaRPr/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75" y="1901819"/>
            <a:ext cx="3054361" cy="305436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4297680" y="2423160"/>
            <a:ext cx="6858000" cy="914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000" b="0" i="1">
                <a:solidFill>
                  <a:srgbClr val="414141"/>
                </a:solidFill>
                <a:latin typeface="Aptos"/>
              </a:defRPr>
            </a:pPr>
            <a:r>
              <a:t>The dashboard section summarizes three views: current usage, future demand and demographics.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389120" y="3657600"/>
            <a:ext cx="658368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Tab 1: Current Technology Usage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Tab 2: Future Technology Trends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Tab 3: Demographics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706582" y="365125"/>
            <a:ext cx="11087100" cy="985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DASHBOARD TAB 1: Current Technology Usage</a:t>
            </a:r>
            <a:endParaRPr/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685800" y="1325880"/>
          <a:ext cx="4663440" cy="201168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71" name="Chart 170"/>
          <p:cNvGraphicFramePr>
            <a:graphicFrameLocks noGrp="1"/>
          </p:cNvGraphicFramePr>
          <p:nvPr/>
        </p:nvGraphicFramePr>
        <p:xfrm>
          <a:off x="5989320" y="1325880"/>
          <a:ext cx="4663440" cy="2011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685800" y="3566160"/>
            <a:ext cx="46634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200" b="1" i="0">
                <a:solidFill>
                  <a:srgbClr val="414141"/>
                </a:solidFill>
                <a:latin typeface="Aptos"/>
              </a:defRPr>
            </a:pPr>
            <a:r>
              <a:t>Top platforms used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3840480"/>
            <a:ext cx="2377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800" b="1" i="0">
                <a:solidFill>
                  <a:srgbClr val="705DBE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43200" y="3886200"/>
            <a:ext cx="2377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500" b="1" i="0">
                <a:solidFill>
                  <a:srgbClr val="C85050"/>
                </a:solidFill>
                <a:latin typeface="Aptos"/>
              </a:defRPr>
            </a:pPr>
            <a:r>
              <a:t>Azure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600200" y="4297680"/>
            <a:ext cx="2377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400" b="1" i="0">
                <a:solidFill>
                  <a:srgbClr val="C85050"/>
                </a:solidFill>
                <a:latin typeface="Aptos"/>
              </a:defRPr>
            </a:pPr>
            <a:r>
              <a:t>Google Cloud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49039" y="4389120"/>
            <a:ext cx="1600199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200" b="1" i="0">
                <a:solidFill>
                  <a:srgbClr val="F27E1F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05840" y="4709160"/>
            <a:ext cx="2377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200" b="1" i="0">
                <a:solidFill>
                  <a:srgbClr val="6E6E6E"/>
                </a:solidFill>
                <a:latin typeface="Aptos"/>
              </a:defRPr>
            </a:pPr>
            <a:r>
              <a:t>Heroku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017520" y="4754879"/>
            <a:ext cx="23317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100" b="1" i="0">
                <a:solidFill>
                  <a:srgbClr val="705DBE"/>
                </a:solidFill>
                <a:latin typeface="Aptos"/>
              </a:defRPr>
            </a:pPr>
            <a:r>
              <a:t>Cloudflare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05840" y="5120640"/>
            <a:ext cx="2377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100" b="1" i="0">
                <a:solidFill>
                  <a:srgbClr val="6E6E6E"/>
                </a:solidFill>
                <a:latin typeface="Aptos"/>
              </a:defRPr>
            </a:pPr>
            <a:r>
              <a:t>Vercel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063240" y="5120640"/>
            <a:ext cx="2285999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100" b="1" i="0">
                <a:solidFill>
                  <a:srgbClr val="C85050"/>
                </a:solidFill>
                <a:latin typeface="Aptos"/>
              </a:defRPr>
            </a:pPr>
            <a:r>
              <a:t>DigitalOcean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783080" y="5440679"/>
            <a:ext cx="2377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100" b="1" i="0">
                <a:solidFill>
                  <a:srgbClr val="2D5EAA"/>
                </a:solidFill>
                <a:latin typeface="Aptos"/>
              </a:defRPr>
            </a:pPr>
            <a:r>
              <a:t>Netlify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794760" y="5440679"/>
            <a:ext cx="1554479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100" b="1" i="0">
                <a:solidFill>
                  <a:srgbClr val="F27E1F"/>
                </a:solidFill>
                <a:latin typeface="Aptos"/>
              </a:defRPr>
            </a:pPr>
            <a:r>
              <a:t>Supabase</a:t>
            </a:r>
          </a:p>
        </p:txBody>
      </p:sp>
      <p:graphicFrame>
        <p:nvGraphicFramePr>
          <p:cNvPr id="183" name="Chart 182"/>
          <p:cNvGraphicFramePr>
            <a:graphicFrameLocks noGrp="1"/>
          </p:cNvGraphicFramePr>
          <p:nvPr/>
        </p:nvGraphicFramePr>
        <p:xfrm>
          <a:off x="5989320" y="3703320"/>
          <a:ext cx="4663440" cy="201168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84" name="TextBox 183"/>
          <p:cNvSpPr txBox="1"/>
          <p:nvPr/>
        </p:nvSpPr>
        <p:spPr>
          <a:xfrm>
            <a:off x="5989320" y="5532120"/>
            <a:ext cx="46634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800" b="0" i="0">
                <a:solidFill>
                  <a:srgbClr val="6E6E6E"/>
                </a:solidFill>
                <a:latin typeface="Aptos"/>
              </a:defRPr>
            </a:pPr>
            <a:r>
              <a:t>Largest bubbles: Node.js, React, jQuery, Express, Angular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727364" y="531380"/>
            <a:ext cx="11055926" cy="1016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ct val="100000"/>
              <a:buFont typeface="IBM Plex Sans SemiBold"/>
              <a:buNone/>
            </a:pPr>
            <a:r>
              <a:rPr lang="en-US"/>
              <a:t>DASHBOARD TAB 2: Future Technology Trends</a:t>
            </a:r>
            <a:endParaRPr/>
          </a:p>
        </p:txBody>
      </p:sp>
      <p:graphicFrame>
        <p:nvGraphicFramePr>
          <p:cNvPr id="176" name="Chart 175"/>
          <p:cNvGraphicFramePr>
            <a:graphicFrameLocks noGrp="1"/>
          </p:cNvGraphicFramePr>
          <p:nvPr/>
        </p:nvGraphicFramePr>
        <p:xfrm>
          <a:off x="685800" y="1325880"/>
          <a:ext cx="4663440" cy="201168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77" name="Chart 176"/>
          <p:cNvGraphicFramePr>
            <a:graphicFrameLocks noGrp="1"/>
          </p:cNvGraphicFramePr>
          <p:nvPr/>
        </p:nvGraphicFramePr>
        <p:xfrm>
          <a:off x="5989320" y="1325880"/>
          <a:ext cx="4663440" cy="2011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78" name="TextBox 177"/>
          <p:cNvSpPr txBox="1"/>
          <p:nvPr/>
        </p:nvSpPr>
        <p:spPr>
          <a:xfrm>
            <a:off x="685800" y="3355848"/>
            <a:ext cx="46634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1200" b="1" i="0">
                <a:solidFill>
                  <a:srgbClr val="414141"/>
                </a:solidFill>
                <a:latin typeface="Aptos"/>
              </a:defRPr>
            </a:pPr>
            <a:r>
              <a:t>Top platforms wanted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85800" y="3703320"/>
            <a:ext cx="1234576" cy="987552"/>
          </a:xfrm>
          <a:prstGeom prst="rect">
            <a:avLst/>
          </a:prstGeom>
          <a:solidFill>
            <a:srgbClr val="2D5E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AWS</a:t>
            </a:r>
            <a:br/>
            <a:r>
              <a:t>36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938664" y="3703320"/>
            <a:ext cx="990963" cy="987552"/>
          </a:xfrm>
          <a:prstGeom prst="rect">
            <a:avLst/>
          </a:prstGeom>
          <a:solidFill>
            <a:srgbClr val="F27E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Azure</a:t>
            </a:r>
            <a:br/>
            <a:r>
              <a:t>29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947916" y="3703320"/>
            <a:ext cx="921360" cy="987552"/>
          </a:xfrm>
          <a:prstGeom prst="rect">
            <a:avLst/>
          </a:prstGeom>
          <a:solidFill>
            <a:srgbClr val="56A6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Google Cloud</a:t>
            </a:r>
            <a:br/>
            <a:r>
              <a:t>27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887564" y="3703320"/>
            <a:ext cx="782153" cy="987552"/>
          </a:xfrm>
          <a:prstGeom prst="rect">
            <a:avLst/>
          </a:prstGeom>
          <a:solidFill>
            <a:srgbClr val="705D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Cloudflare</a:t>
            </a:r>
            <a:br/>
            <a:r>
              <a:t>23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688005" y="3703320"/>
            <a:ext cx="642946" cy="987552"/>
          </a:xfrm>
          <a:prstGeom prst="rect">
            <a:avLst/>
          </a:prstGeom>
          <a:solidFill>
            <a:srgbClr val="3CA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Vercel</a:t>
            </a:r>
            <a:br/>
            <a:r>
              <a:t>19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85800" y="4709160"/>
            <a:ext cx="1253559" cy="987552"/>
          </a:xfrm>
          <a:prstGeom prst="rect">
            <a:avLst/>
          </a:prstGeom>
          <a:solidFill>
            <a:srgbClr val="C85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Supabase</a:t>
            </a:r>
            <a:br/>
            <a:r>
              <a:t>18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957647" y="4709160"/>
            <a:ext cx="1041584" cy="987552"/>
          </a:xfrm>
          <a:prstGeom prst="rect">
            <a:avLst/>
          </a:prstGeom>
          <a:solidFill>
            <a:srgbClr val="8282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Firebase</a:t>
            </a:r>
            <a:br/>
            <a:r>
              <a:t>15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017520" y="4709160"/>
            <a:ext cx="900268" cy="987552"/>
          </a:xfrm>
          <a:prstGeom prst="rect">
            <a:avLst/>
          </a:prstGeom>
          <a:solidFill>
            <a:srgbClr val="5F91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DigitalOcean</a:t>
            </a:r>
            <a:br/>
            <a:r>
              <a:t>13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936076" y="4709160"/>
            <a:ext cx="829610" cy="987552"/>
          </a:xfrm>
          <a:prstGeom prst="rect">
            <a:avLst/>
          </a:prstGeom>
          <a:solidFill>
            <a:srgbClr val="E6A0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Netlify</a:t>
            </a:r>
            <a:br/>
            <a:r>
              <a:t>12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783974" y="4709160"/>
            <a:ext cx="546977" cy="987552"/>
          </a:xfrm>
          <a:prstGeom prst="rect">
            <a:avLst/>
          </a:prstGeom>
          <a:solidFill>
            <a:srgbClr val="64B4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Heroku</a:t>
            </a:r>
            <a:br/>
            <a:r>
              <a:t>8</a:t>
            </a:r>
          </a:p>
        </p:txBody>
      </p:sp>
      <p:graphicFrame>
        <p:nvGraphicFramePr>
          <p:cNvPr id="189" name="Chart 188"/>
          <p:cNvGraphicFramePr>
            <a:graphicFrameLocks noGrp="1"/>
          </p:cNvGraphicFramePr>
          <p:nvPr/>
        </p:nvGraphicFramePr>
        <p:xfrm>
          <a:off x="5989320" y="3703320"/>
          <a:ext cx="4663440" cy="201168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90" name="TextBox 189"/>
          <p:cNvSpPr txBox="1"/>
          <p:nvPr/>
        </p:nvSpPr>
        <p:spPr>
          <a:xfrm>
            <a:off x="5989320" y="5532120"/>
            <a:ext cx="46634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800" b="0" i="0">
                <a:solidFill>
                  <a:srgbClr val="6E6E6E"/>
                </a:solidFill>
                <a:latin typeface="Aptos"/>
              </a:defRPr>
            </a:pPr>
            <a:r>
              <a:t>Largest bubbles: React, Node.js, Next.js, Vue.js, Svelte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DASHBOARD TAB 3: Demographics</a:t>
            </a:r>
            <a:endParaRPr/>
          </a:p>
        </p:txBody>
      </p:sp>
      <p:graphicFrame>
        <p:nvGraphicFramePr>
          <p:cNvPr id="182" name="Chart 181"/>
          <p:cNvGraphicFramePr>
            <a:graphicFrameLocks noGrp="1"/>
          </p:cNvGraphicFramePr>
          <p:nvPr/>
        </p:nvGraphicFramePr>
        <p:xfrm>
          <a:off x="685800" y="1280160"/>
          <a:ext cx="4663440" cy="196596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83" name="Chart 182"/>
          <p:cNvGraphicFramePr>
            <a:graphicFrameLocks noGrp="1"/>
          </p:cNvGraphicFramePr>
          <p:nvPr/>
        </p:nvGraphicFramePr>
        <p:xfrm>
          <a:off x="5989320" y="1280160"/>
          <a:ext cx="4663440" cy="196596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184" name="Chart 183"/>
          <p:cNvGraphicFramePr>
            <a:graphicFrameLocks noGrp="1"/>
          </p:cNvGraphicFramePr>
          <p:nvPr/>
        </p:nvGraphicFramePr>
        <p:xfrm>
          <a:off x="685800" y="3657600"/>
          <a:ext cx="4663440" cy="196596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185" name="Chart 184"/>
          <p:cNvGraphicFramePr>
            <a:graphicFrameLocks noGrp="1"/>
          </p:cNvGraphicFramePr>
          <p:nvPr/>
        </p:nvGraphicFramePr>
        <p:xfrm>
          <a:off x="5989320" y="3657600"/>
          <a:ext cx="4663440" cy="1965960"/>
        </p:xfrm>
        <a:graphic>
          <a:graphicData uri="http://schemas.openxmlformats.org/drawingml/2006/chart">
            <c:chart r:id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DISCUSSION</a:t>
            </a:r>
            <a:endParaRPr/>
          </a:p>
        </p:txBody>
      </p:sp>
      <p:pic>
        <p:nvPicPr>
          <p:cNvPr id="188" name="Google Shape;18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TextBox 188"/>
          <p:cNvSpPr txBox="1"/>
          <p:nvPr/>
        </p:nvSpPr>
        <p:spPr>
          <a:xfrm>
            <a:off x="4937760" y="1737360"/>
            <a:ext cx="6126480" cy="37490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The dashboard connects technology usage with future demand and respondent profiles.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Current usage is strongest around established languages and databases, meaning core fundamentals remain valuable.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Future demand shows interest in technologies that support automation, cloud-native development and modern web applications.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Demographics suggest the results reflect a broad developer population, not a single experience group.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OVERALL FINDINGS AND IMPLICATIONS</a:t>
            </a:r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2296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68680" y="2240280"/>
            <a:ext cx="5120640" cy="3291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Programming and database skills remain the strongest signal across the analysis.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Python, SQL and JavaScript/TypeScript form a practical core for data and product teams.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PostgreSQL and cloud platforms indicate where data workflows are moving.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172200" y="1600200"/>
            <a:ext cx="512064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200" b="0" i="1">
                <a:solidFill>
                  <a:srgbClr val="414141"/>
                </a:solidFill>
                <a:latin typeface="Aptos"/>
              </a:defRPr>
            </a:pPr>
            <a:r>
              <a:t>Implications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217920" y="2240280"/>
            <a:ext cx="5074920" cy="3291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Learners should prioritize SQL, Python, Power BI/Cognos-style dashboarding and portfolio projects.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Employers should align training programs with current tools and future demand signals.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Analysts who can combine data cleaning, visualization and business storytelling create more value.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CONCLUSION</a:t>
            </a:r>
            <a:endParaRPr/>
          </a:p>
        </p:txBody>
      </p:sp>
      <p:pic>
        <p:nvPicPr>
          <p:cNvPr id="202" name="Google Shape;202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967" y="2113896"/>
            <a:ext cx="3054361" cy="305436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TextBox 202"/>
          <p:cNvSpPr txBox="1"/>
          <p:nvPr/>
        </p:nvSpPr>
        <p:spPr>
          <a:xfrm>
            <a:off x="4389120" y="1691640"/>
            <a:ext cx="6858000" cy="40233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The project demonstrates an end-to-end data analysis workflow: collection, wrangling, analysis, visualization and reporting.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Technology trends confirm the continuing importance of Python, SQL, JavaScript/TypeScript and relational databases.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Dashboards help transform detailed survey data into clear decisions about skill priorities.</a:t>
            </a:r>
          </a:p>
          <a:p>
            <a:pPr marL="285750" indent="-285750">
              <a:defRPr sz="1800">
                <a:solidFill>
                  <a:srgbClr val="414141"/>
                </a:solidFill>
                <a:latin typeface="Aptos"/>
              </a:defRPr>
            </a:pPr>
            <a:r>
              <a:t>The final recommendation is to focus learning and portfolio work on practical, business-facing data analysis skills.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IBM Plex Sans SemiBold"/>
              <a:buNone/>
            </a:pPr>
            <a:r>
              <a:rPr lang="en-US"/>
              <a:t>APPENDIX</a:t>
            </a:r>
            <a:endParaRPr/>
          </a:p>
        </p:txBody>
      </p:sp>
      <p:pic>
        <p:nvPicPr>
          <p:cNvPr id="209" name="Google Shape;20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857" y="1849823"/>
            <a:ext cx="3194581" cy="31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TextBox 209"/>
          <p:cNvSpPr txBox="1"/>
          <p:nvPr/>
        </p:nvSpPr>
        <p:spPr>
          <a:xfrm>
            <a:off x="4251960" y="1600200"/>
            <a:ext cx="6949440" cy="4114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marL="285750" indent="-285750">
              <a:defRPr sz="1600">
                <a:solidFill>
                  <a:srgbClr val="414141"/>
                </a:solidFill>
                <a:latin typeface="Aptos"/>
              </a:defRPr>
            </a:pPr>
            <a:r>
              <a:t>Supporting analyses include job postings and programming-language salary comparisons.</a:t>
            </a:r>
          </a:p>
          <a:p>
            <a:pPr marL="285750" indent="-285750">
              <a:defRPr sz="1600">
                <a:solidFill>
                  <a:srgbClr val="414141"/>
                </a:solidFill>
                <a:latin typeface="Aptos"/>
              </a:defRPr>
            </a:pPr>
            <a:r>
              <a:t>Technology trend slides compare current usage with future technology interest.</a:t>
            </a:r>
          </a:p>
          <a:p>
            <a:pPr marL="285750" indent="-285750">
              <a:defRPr sz="1600">
                <a:solidFill>
                  <a:srgbClr val="414141"/>
                </a:solidFill>
                <a:latin typeface="Aptos"/>
              </a:defRPr>
            </a:pPr>
            <a:r>
              <a:t>Dashboard slides summarize Current Technology Usage, Future Technology Trends, and Demographics.</a:t>
            </a:r>
          </a:p>
          <a:p>
            <a:pPr marL="285750" indent="-285750">
              <a:defRPr sz="1600">
                <a:solidFill>
                  <a:srgbClr val="414141"/>
                </a:solidFill>
                <a:latin typeface="Aptos"/>
              </a:defRPr>
            </a:pPr>
            <a:r>
              <a:t>These supporting views reinforce the findings presented in the report.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251960" y="1234440"/>
            <a:ext cx="69494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defRPr sz="2000" b="1" i="0">
                <a:solidFill>
                  <a:srgbClr val="414141"/>
                </a:solidFill>
                <a:latin typeface="Aptos"/>
              </a:defRPr>
            </a:pPr>
            <a:r>
              <a:t>Appendix and source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